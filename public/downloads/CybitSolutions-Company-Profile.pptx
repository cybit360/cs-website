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1828800"/>
            <a:ext cx="6400800" cy="6400800"/>
          </a:xfrm>
          <a:prstGeom prst="ellipse">
            <a:avLst/>
          </a:prstGeom>
          <a:solidFill>
            <a:srgbClr val="13C0F5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FFC766">
              <a:alpha val="5000"/>
            </a:srgbClr>
          </a:solidFill>
          <a:ln/>
        </p:spPr>
      </p:sp>
      <p:pic>
        <p:nvPicPr>
          <p:cNvPr id="6" name="Image 0" descr="C:\Users\adupe\Desktop\CybitSolutions\public\images\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55848" y="914400"/>
            <a:ext cx="54864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468880"/>
            <a:ext cx="8531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494"/>
                </a:solidFill>
              </a:rPr>
              <a:t>The Technology &amp; Digital Transformation Division of AFANO Group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184648" y="3017520"/>
            <a:ext cx="1828800" cy="27432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9" name="Text 6"/>
          <p:cNvSpPr/>
          <p:nvPr/>
        </p:nvSpPr>
        <p:spPr>
          <a:xfrm>
            <a:off x="1371600" y="329184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1828800" y="411480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3C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Mission-Grade Innovation for Cyber, Cloud &amp; AI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828800" y="4937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3C0F5"/>
                </a:solidFill>
              </a:rPr>
              <a:t>20+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1828800" y="5349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888"/>
                </a:solidFill>
              </a:rPr>
              <a:t>Years Experience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114800" y="4937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3C0F5"/>
                </a:solidFill>
              </a:rPr>
              <a:t>500+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4114800" y="5349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888"/>
                </a:solidFill>
              </a:rPr>
              <a:t>Cleared Staff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400800" y="4937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3C0F5"/>
                </a:solidFill>
              </a:rPr>
              <a:t>100+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400800" y="5349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888"/>
                </a:solidFill>
              </a:rPr>
              <a:t>Contracts Delivered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686800" y="4937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3C0F5"/>
                </a:solidFill>
              </a:rPr>
              <a:t>$2B+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8686800" y="5349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888"/>
                </a:solidFill>
              </a:rPr>
              <a:t>Program Value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560320" y="5943600"/>
            <a:ext cx="1554480" cy="320040"/>
          </a:xfrm>
          <a:prstGeom prst="roundRect">
            <a:avLst>
              <a:gd name="adj" fmla="val 42857"/>
            </a:avLst>
          </a:prstGeom>
          <a:solidFill>
            <a:srgbClr val="13C0F5">
              <a:alpha val="10000"/>
            </a:srgbClr>
          </a:solidFill>
          <a:ln w="9525">
            <a:solidFill>
              <a:srgbClr val="13C0F5">
                <a:alpha val="5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560320" y="5943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C0F5"/>
                </a:solidFill>
              </a:rPr>
              <a:t>SDVOSB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389120" y="5943600"/>
            <a:ext cx="1554480" cy="320040"/>
          </a:xfrm>
          <a:prstGeom prst="roundRect">
            <a:avLst>
              <a:gd name="adj" fmla="val 42857"/>
            </a:avLst>
          </a:prstGeom>
          <a:solidFill>
            <a:srgbClr val="13C0F5">
              <a:alpha val="10000"/>
            </a:srgbClr>
          </a:solidFill>
          <a:ln w="9525">
            <a:solidFill>
              <a:srgbClr val="13C0F5">
                <a:alpha val="5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89120" y="5943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C0F5"/>
                </a:solidFill>
              </a:rPr>
              <a:t>MBE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217920" y="5943600"/>
            <a:ext cx="1554480" cy="320040"/>
          </a:xfrm>
          <a:prstGeom prst="roundRect">
            <a:avLst>
              <a:gd name="adj" fmla="val 42857"/>
            </a:avLst>
          </a:prstGeom>
          <a:solidFill>
            <a:srgbClr val="13C0F5">
              <a:alpha val="10000"/>
            </a:srgbClr>
          </a:solidFill>
          <a:ln w="9525">
            <a:solidFill>
              <a:srgbClr val="13C0F5">
                <a:alpha val="5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17920" y="5943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C0F5"/>
                </a:solidFill>
              </a:rPr>
              <a:t>TS/SCI CLEARED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8046720" y="5943600"/>
            <a:ext cx="1554480" cy="320040"/>
          </a:xfrm>
          <a:prstGeom prst="roundRect">
            <a:avLst>
              <a:gd name="adj" fmla="val 42857"/>
            </a:avLst>
          </a:prstGeom>
          <a:solidFill>
            <a:srgbClr val="13C0F5">
              <a:alpha val="10000"/>
            </a:srgbClr>
          </a:solidFill>
          <a:ln w="9525">
            <a:solidFill>
              <a:srgbClr val="13C0F5">
                <a:alpha val="5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046720" y="5943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C0F5"/>
                </a:solidFill>
              </a:rPr>
              <a:t>CMMC L3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828800" y="6473952"/>
            <a:ext cx="8531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F6070"/>
                </a:solidFill>
              </a:rPr>
              <a:t>www.cybitsolutions.net  ·  info@cybitsolutions.net  ·  (771) 233-1379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-1371600"/>
            <a:ext cx="4572000" cy="4572000"/>
          </a:xfrm>
          <a:prstGeom prst="ellipse">
            <a:avLst/>
          </a:prstGeom>
          <a:solidFill>
            <a:srgbClr val="13C0F5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005840"/>
            <a:ext cx="1371600" cy="27432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71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C0F5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645920" y="1719072"/>
            <a:ext cx="4572000" cy="4572"/>
          </a:xfrm>
          <a:prstGeom prst="rect">
            <a:avLst/>
          </a:prstGeom>
          <a:solidFill>
            <a:srgbClr val="2B384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8745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C0F5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1874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Services — 10 Domains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645920" y="2221992"/>
            <a:ext cx="4572000" cy="4572"/>
          </a:xfrm>
          <a:prstGeom prst="rect">
            <a:avLst/>
          </a:prstGeom>
          <a:solidFill>
            <a:srgbClr val="2B384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377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C0F5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2377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Performance Highlights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645920" y="2724912"/>
            <a:ext cx="4572000" cy="4572"/>
          </a:xfrm>
          <a:prstGeom prst="rect">
            <a:avLst/>
          </a:prstGeom>
          <a:solidFill>
            <a:srgbClr val="2B384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880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C0F5"/>
                </a:solidFill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2880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Team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645920" y="3227832"/>
            <a:ext cx="4572000" cy="4572"/>
          </a:xfrm>
          <a:prstGeom prst="rect">
            <a:avLst/>
          </a:prstGeom>
          <a:solidFill>
            <a:srgbClr val="2B384C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383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C0F5"/>
                </a:solidFill>
              </a:rPr>
              <a:t>05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4592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Certifications &amp; Clearances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645920" y="3730752"/>
            <a:ext cx="4572000" cy="4572"/>
          </a:xfrm>
          <a:prstGeom prst="rect">
            <a:avLst/>
          </a:prstGeom>
          <a:solidFill>
            <a:srgbClr val="2B384C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886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C0F5"/>
                </a:solidFill>
              </a:rPr>
              <a:t>06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3886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Vehicles &amp; NAICS Codes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645920" y="4233672"/>
            <a:ext cx="4572000" cy="4572"/>
          </a:xfrm>
          <a:prstGeom prst="rect">
            <a:avLst/>
          </a:prstGeom>
          <a:solidFill>
            <a:srgbClr val="2B384C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3891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C0F5"/>
                </a:solidFill>
              </a:rPr>
              <a:t>07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45920" y="4389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Partners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645920" y="4736592"/>
            <a:ext cx="4572000" cy="4572"/>
          </a:xfrm>
          <a:prstGeom prst="rect">
            <a:avLst/>
          </a:prstGeom>
          <a:solidFill>
            <a:srgbClr val="2B384C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892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C0F5"/>
                </a:solidFill>
              </a:rPr>
              <a:t>08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45920" y="4892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CybitSolutions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645920" y="5239512"/>
            <a:ext cx="4572000" cy="4572"/>
          </a:xfrm>
          <a:prstGeom prst="rect">
            <a:avLst/>
          </a:prstGeom>
          <a:solidFill>
            <a:srgbClr val="2B384C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5394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C0F5"/>
                </a:solidFill>
              </a:rPr>
              <a:t>09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645920" y="5394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Information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645920" y="5742432"/>
            <a:ext cx="4572000" cy="4572"/>
          </a:xfrm>
          <a:prstGeom prst="rect">
            <a:avLst/>
          </a:prstGeom>
          <a:solidFill>
            <a:srgbClr val="2B384C"/>
          </a:solidFill>
          <a:ln/>
        </p:spPr>
      </p:sp>
      <p:sp>
        <p:nvSpPr>
          <p:cNvPr id="34" name="Shape 32"/>
          <p:cNvSpPr/>
          <p:nvPr/>
        </p:nvSpPr>
        <p:spPr>
          <a:xfrm>
            <a:off x="8229600" y="457200"/>
            <a:ext cx="36576" cy="5943600"/>
          </a:xfrm>
          <a:prstGeom prst="rect">
            <a:avLst/>
          </a:prstGeom>
          <a:solidFill>
            <a:srgbClr val="13C0F5">
              <a:alpha val="3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F6070"/>
                </a:solidFill>
              </a:rPr>
              <a:t>CybitSolutions — A Division of AFANO Group · SDVOSB · MBE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888"/>
                </a:solidFill>
              </a:rPr>
              <a:t>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-1371600"/>
            <a:ext cx="4572000" cy="4572000"/>
          </a:xfrm>
          <a:prstGeom prst="ellipse">
            <a:avLst/>
          </a:prstGeom>
          <a:solidFill>
            <a:srgbClr val="13C0F5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Company Overview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005840"/>
            <a:ext cx="1371600" cy="27432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4D8DC"/>
                </a:solidFill>
              </a:rPr>
              <a:t>Established in 2003,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3C0F5"/>
                </a:solidFill>
              </a:rPr>
              <a:t>CybitSolutions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4D8DC"/>
                </a:solidFill>
              </a:rPr>
              <a:t> is the Technology and Digital Transformation Division of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3C0F5"/>
                </a:solidFill>
              </a:rPr>
              <a:t>AFANO Group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4D8DC"/>
                </a:solidFill>
              </a:rPr>
              <a:t>, delivering mission-critical IT solutions to federal agencies, the Department of Defense, Intelligence Community, and commercial enterprises.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0A8B0"/>
                </a:solidFill>
              </a:rPr>
              <a:t>Our 500+ cleared professionals operate across 10 service domains, supporting programs that protect national security and advance digital transformation with CONUS and OCONUS presence, TS/SCI clearances, and full federal compliance.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1371600"/>
            <a:ext cx="5029200" cy="1188720"/>
          </a:xfrm>
          <a:prstGeom prst="roundRect">
            <a:avLst>
              <a:gd name="adj" fmla="val 7692"/>
            </a:avLst>
          </a:prstGeom>
          <a:solidFill>
            <a:srgbClr val="1E2A38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371600"/>
            <a:ext cx="54864" cy="1188720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417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C0F5"/>
                </a:solidFill>
              </a:rPr>
              <a:t>MISSION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75120" y="16916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4D8DC"/>
                </a:solidFill>
              </a:rPr>
              <a:t>Deliver innovative, secure, and reliable IT solutions that empower federal agencies to accomplish their most critical missions.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2834640"/>
            <a:ext cx="5029200" cy="1188720"/>
          </a:xfrm>
          <a:prstGeom prst="roundRect">
            <a:avLst>
              <a:gd name="adj" fmla="val 7692"/>
            </a:avLst>
          </a:prstGeom>
          <a:solidFill>
            <a:srgbClr val="1E2A38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2834640"/>
            <a:ext cx="54864" cy="1188720"/>
          </a:xfrm>
          <a:prstGeom prst="rect">
            <a:avLst/>
          </a:prstGeom>
          <a:solidFill>
            <a:srgbClr val="FFC766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880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766"/>
                </a:solidFill>
              </a:rPr>
              <a:t>VISION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75120" y="315468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4D8DC"/>
                </a:solidFill>
              </a:rPr>
              <a:t>Be the most trusted technology partner for organizations protecting national security and advancing government modernization.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11274552" cy="1463040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7091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C0F5"/>
                </a:solidFill>
              </a:rPr>
              <a:t>20+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31520" y="52120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0A0"/>
                </a:solidFill>
              </a:rPr>
              <a:t>Years of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90A0"/>
                </a:solidFill>
              </a:rPr>
              <a:t>Experience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468880" y="4846320"/>
            <a:ext cx="9144" cy="822960"/>
          </a:xfrm>
          <a:prstGeom prst="rect">
            <a:avLst/>
          </a:prstGeom>
          <a:solidFill>
            <a:srgbClr val="334054"/>
          </a:solidFill>
          <a:ln/>
        </p:spPr>
      </p:sp>
      <p:sp>
        <p:nvSpPr>
          <p:cNvPr id="21" name="Text 19"/>
          <p:cNvSpPr/>
          <p:nvPr/>
        </p:nvSpPr>
        <p:spPr>
          <a:xfrm>
            <a:off x="2606040" y="47091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C0F5"/>
                </a:solidFill>
              </a:rPr>
              <a:t>500+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606040" y="52120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0A0"/>
                </a:solidFill>
              </a:rPr>
              <a:t>Cleared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90A0"/>
                </a:solidFill>
              </a:rPr>
              <a:t>Professionals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343400" y="4846320"/>
            <a:ext cx="9144" cy="822960"/>
          </a:xfrm>
          <a:prstGeom prst="rect">
            <a:avLst/>
          </a:prstGeom>
          <a:solidFill>
            <a:srgbClr val="334054"/>
          </a:solidFill>
          <a:ln/>
        </p:spPr>
      </p:sp>
      <p:sp>
        <p:nvSpPr>
          <p:cNvPr id="24" name="Text 22"/>
          <p:cNvSpPr/>
          <p:nvPr/>
        </p:nvSpPr>
        <p:spPr>
          <a:xfrm>
            <a:off x="4480560" y="47091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C0F5"/>
                </a:solidFill>
              </a:rPr>
              <a:t>100+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480560" y="52120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0A0"/>
                </a:solidFill>
              </a:rPr>
              <a:t>Contracts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90A0"/>
                </a:solidFill>
              </a:rPr>
              <a:t>Delivered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17920" y="4846320"/>
            <a:ext cx="9144" cy="822960"/>
          </a:xfrm>
          <a:prstGeom prst="rect">
            <a:avLst/>
          </a:prstGeom>
          <a:solidFill>
            <a:srgbClr val="334054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47091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C0F5"/>
                </a:solidFill>
              </a:rPr>
              <a:t>$2B+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355080" y="52120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0A0"/>
                </a:solidFill>
              </a:rPr>
              <a:t>Program Value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90A0"/>
                </a:solidFill>
              </a:rPr>
              <a:t>Managed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092440" y="4846320"/>
            <a:ext cx="9144" cy="822960"/>
          </a:xfrm>
          <a:prstGeom prst="rect">
            <a:avLst/>
          </a:prstGeom>
          <a:solidFill>
            <a:srgbClr val="334054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0" y="47091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C0F5"/>
                </a:solidFill>
              </a:rPr>
              <a:t>10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8229600" y="52120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0A0"/>
                </a:solidFill>
              </a:rPr>
              <a:t>Service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90A0"/>
                </a:solidFill>
              </a:rPr>
              <a:t>Domains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966960" y="4846320"/>
            <a:ext cx="9144" cy="822960"/>
          </a:xfrm>
          <a:prstGeom prst="rect">
            <a:avLst/>
          </a:prstGeom>
          <a:solidFill>
            <a:srgbClr val="334054"/>
          </a:solidFill>
          <a:ln/>
        </p:spPr>
      </p:sp>
      <p:sp>
        <p:nvSpPr>
          <p:cNvPr id="33" name="Text 31"/>
          <p:cNvSpPr/>
          <p:nvPr/>
        </p:nvSpPr>
        <p:spPr>
          <a:xfrm>
            <a:off x="10104120" y="47091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C0F5"/>
                </a:solidFill>
              </a:rPr>
              <a:t>24/7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10104120" y="52120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0A0"/>
                </a:solidFill>
              </a:rPr>
              <a:t>Global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90A0"/>
                </a:solidFill>
              </a:rPr>
              <a:t>Operations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F6070"/>
                </a:solidFill>
              </a:rPr>
              <a:t>CybitSolutions — A Division of AFANO Group · SDVOSB · MBE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888"/>
                </a:solidFill>
              </a:rPr>
              <a:t>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-1371600"/>
            <a:ext cx="4572000" cy="4572000"/>
          </a:xfrm>
          <a:prstGeom prst="ellipse">
            <a:avLst/>
          </a:prstGeom>
          <a:solidFill>
            <a:srgbClr val="13C0F5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Our Services — 10 Domains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005840"/>
            <a:ext cx="1371600" cy="27432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280160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13C0F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801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C2E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280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Cybersecurity &amp; Risk Management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16002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0A8B0"/>
                </a:solidFill>
              </a:rPr>
              <a:t>Zero-trust architecture, SOC/MDR, governance risk &amp; compliance, NIST RMF, vulnerability management, penetration testing, and incident response for federal missions.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17320" y="2194560"/>
            <a:ext cx="9601200" cy="4572"/>
          </a:xfrm>
          <a:prstGeom prst="rect">
            <a:avLst/>
          </a:prstGeom>
          <a:solidFill>
            <a:srgbClr val="242F44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331720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13C0F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3317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C2E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Cloud Computing &amp; Virtualization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26517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0A8B0"/>
                </a:solidFill>
              </a:rPr>
              <a:t>AWS GovCloud, Azure Government, FedRAMP High, IL4/IL5/IL6, cloud migration, hybrid/multi-cloud strategy, and FinOps optimization.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417320" y="3246120"/>
            <a:ext cx="9601200" cy="4572"/>
          </a:xfrm>
          <a:prstGeom prst="rect">
            <a:avLst/>
          </a:prstGeom>
          <a:solidFill>
            <a:srgbClr val="242F44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383280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13C0F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832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C2E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383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Core IT Infrastructure &amp; Operations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37033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0A8B0"/>
                </a:solidFill>
              </a:rPr>
              <a:t>SD-WAN, data center modernization, network operations center (NOC), Tier 1–3 help desk, monitoring, and disaster recovery.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417320" y="4297680"/>
            <a:ext cx="9601200" cy="4572"/>
          </a:xfrm>
          <a:prstGeom prst="rect">
            <a:avLst/>
          </a:prstGeom>
          <a:solidFill>
            <a:srgbClr val="242F44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4434840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13C0F5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4348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C2E"/>
                </a:solidFill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17320" y="4434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Software Development &amp; DevOps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47548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0A8B0"/>
                </a:solidFill>
              </a:rPr>
              <a:t>DevSecOps CI/CD pipelines, agile methodology, application modernization, microservices, API design, and test automation.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417320" y="5349240"/>
            <a:ext cx="9601200" cy="4572"/>
          </a:xfrm>
          <a:prstGeom prst="rect">
            <a:avLst/>
          </a:prstGeom>
          <a:solidFill>
            <a:srgbClr val="242F44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5486400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13C0F5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4864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C2E"/>
                </a:solidFill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17320" y="5486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&amp; Analytics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17320" y="58064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0A8B0"/>
                </a:solidFill>
              </a:rPr>
              <a:t>Enterprise data lakes, ETL/ELT pipelines, BI dashboarding, data governance, geospatial analytics, and real-time streaming.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F6070"/>
                </a:solidFill>
              </a:rPr>
              <a:t>CybitSolutions — A Division of AFANO Group · SDVOSB · MBE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888"/>
                </a:solidFill>
              </a:rPr>
              <a:t>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-1371600"/>
            <a:ext cx="4572000" cy="4572000"/>
          </a:xfrm>
          <a:prstGeom prst="ellipse">
            <a:avLst/>
          </a:prstGeom>
          <a:solidFill>
            <a:srgbClr val="13C0F5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Our Services — 10 Domains (cont.)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005840"/>
            <a:ext cx="1371600" cy="27432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280160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FFC76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801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C2E"/>
                </a:solidFill>
              </a:rPr>
              <a:t>06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280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&amp; Automation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16002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0A8B0"/>
                </a:solidFill>
              </a:rPr>
              <a:t>Machine learning, NLP, robotic process automation (RPA), computer vision, intelligent document processing, and MLOps for federal AI initiatives.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17320" y="2194560"/>
            <a:ext cx="9601200" cy="4572"/>
          </a:xfrm>
          <a:prstGeom prst="rect">
            <a:avLst/>
          </a:prstGeom>
          <a:solidFill>
            <a:srgbClr val="242F44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331720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FFC76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3317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C2E"/>
                </a:solidFill>
              </a:rPr>
              <a:t>07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IT Platforms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26517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0A8B0"/>
                </a:solidFill>
              </a:rPr>
              <a:t>ServiceNow ITSM, Salesforce CRM, Microsoft 365 GCC High, SharePoint Online, SAP, and enterprise architecture consulting.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417320" y="3246120"/>
            <a:ext cx="9601200" cy="4572"/>
          </a:xfrm>
          <a:prstGeom prst="rect">
            <a:avLst/>
          </a:prstGeom>
          <a:solidFill>
            <a:srgbClr val="242F44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383280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FFC76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832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C2E"/>
                </a:solidFill>
              </a:rPr>
              <a:t>08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383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Digital Transformation &amp; Gov IT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37033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0A8B0"/>
                </a:solidFill>
              </a:rPr>
              <a:t>IT modernization roadmaps, legacy system migration, citizen experience platforms, change management, and agile governance.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417320" y="4297680"/>
            <a:ext cx="9601200" cy="4572"/>
          </a:xfrm>
          <a:prstGeom prst="rect">
            <a:avLst/>
          </a:prstGeom>
          <a:solidFill>
            <a:srgbClr val="242F44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4434840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FFC766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4348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C2E"/>
                </a:solidFill>
              </a:rPr>
              <a:t>09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17320" y="4434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Emerging &amp; Next-Gen Technologies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47548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0A8B0"/>
                </a:solidFill>
              </a:rPr>
              <a:t>Blockchain for supply chain, post-quantum cryptography, edge computing, IoT/IIoT, 5G integration, and AR/VR for training.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417320" y="5349240"/>
            <a:ext cx="9601200" cy="4572"/>
          </a:xfrm>
          <a:prstGeom prst="rect">
            <a:avLst/>
          </a:prstGeom>
          <a:solidFill>
            <a:srgbClr val="242F44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5486400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FFC766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4864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C2E"/>
                </a:solidFill>
              </a:rPr>
              <a:t>10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17320" y="5486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Industry-Specific IT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17320" y="58064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0A8B0"/>
                </a:solidFill>
              </a:rPr>
              <a:t>Healthcare IT (HIPAA), financial management systems, law enforcement technology, high-performance computing, and logistics platforms.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F6070"/>
                </a:solidFill>
              </a:rPr>
              <a:t>CybitSolutions — A Division of AFANO Group · SDVOSB · MBE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888"/>
                </a:solidFill>
              </a:rPr>
              <a:t>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-1371600"/>
            <a:ext cx="4572000" cy="4572000"/>
          </a:xfrm>
          <a:prstGeom prst="ellipse">
            <a:avLst/>
          </a:prstGeom>
          <a:solidFill>
            <a:srgbClr val="13C0F5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Past Performance Highlights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005840"/>
            <a:ext cx="1371600" cy="27432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280160"/>
            <a:ext cx="10725912" cy="1554480"/>
          </a:xfrm>
          <a:prstGeom prst="roundRect">
            <a:avLst>
              <a:gd name="adj" fmla="val 4706"/>
            </a:avLst>
          </a:prstGeom>
          <a:solidFill>
            <a:srgbClr val="1E2A38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280160"/>
            <a:ext cx="54864" cy="1554480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32588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3C0F5"/>
                </a:solidFill>
              </a:rPr>
              <a:t>MULTIPLE FEDERAL AGENCIES (DOD, CIVILIAN, IC)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05840" y="1554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Microsoft Ecosystem — Enterprise Platform Modernization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1874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DC"/>
                </a:solidFill>
              </a:rPr>
              <a:t>►  M365 GCC High migration for 50,000+ users with 99.99% uptime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1488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DC"/>
                </a:solidFill>
              </a:rPr>
              <a:t>►  500+ Power Apps deployed, 200K+ hours automated annually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88720" y="24231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DC"/>
                </a:solidFill>
              </a:rPr>
              <a:t>►  70% faster incident response via Microsoft Sentinel integration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017520"/>
            <a:ext cx="10725912" cy="1554480"/>
          </a:xfrm>
          <a:prstGeom prst="roundRect">
            <a:avLst>
              <a:gd name="adj" fmla="val 4706"/>
            </a:avLst>
          </a:prstGeom>
          <a:solidFill>
            <a:srgbClr val="1E2A38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017520"/>
            <a:ext cx="54864" cy="1554480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06324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3C0F5"/>
                </a:solidFill>
              </a:rPr>
              <a:t>U.S. AIR FORCE &amp; SPACE FORCE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05840" y="3291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C3BM / ABMS — Joint All-Domain Command &amp; Control (JADC2)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61188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DC"/>
                </a:solidFill>
              </a:rPr>
              <a:t>►  60% faster sensor-to-shooter timeline via zero-trust cloud battle network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88720" y="38862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DC"/>
                </a:solidFill>
              </a:rPr>
              <a:t>►  99.99% uptime in contested operational environments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88720" y="4160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DC"/>
                </a:solidFill>
              </a:rPr>
              <a:t>►  Full DevSecOps maturity with 2-week sprint cycles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754880"/>
            <a:ext cx="10725912" cy="1554480"/>
          </a:xfrm>
          <a:prstGeom prst="roundRect">
            <a:avLst>
              <a:gd name="adj" fmla="val 4706"/>
            </a:avLst>
          </a:prstGeom>
          <a:solidFill>
            <a:srgbClr val="1E2A38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4754880"/>
            <a:ext cx="54864" cy="1554480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480060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3C0F5"/>
                </a:solidFill>
              </a:rPr>
              <a:t>DEPARTMENT OF STATE — CONSULAR AFFAIRS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05840" y="5029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CAKMI — Consular Affairs Key Management Infrastructure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88720" y="53492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DC"/>
                </a:solidFill>
              </a:rPr>
              <a:t>►  Key provisioning reduced from 48 hours to 5 minutes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88720" y="56235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DC"/>
                </a:solidFill>
              </a:rPr>
              <a:t>►  15M+ daily cryptographic operations at 99.999% uptime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88720" y="589788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DC"/>
                </a:solidFill>
              </a:rPr>
              <a:t>►  FIPS 140-2 Level 3 certified across global facilities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F6070"/>
                </a:solidFill>
              </a:rPr>
              <a:t>CybitSolutions — A Division of AFANO Group · SDVOSB · MBE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888"/>
                </a:solidFill>
              </a:rPr>
              <a:t>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-1371600"/>
            <a:ext cx="4572000" cy="4572000"/>
          </a:xfrm>
          <a:prstGeom prst="ellipse">
            <a:avLst/>
          </a:prstGeom>
          <a:solidFill>
            <a:srgbClr val="13C0F5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Past Performance Highlights (cont.)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005840"/>
            <a:ext cx="1371600" cy="27432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280160"/>
            <a:ext cx="10725912" cy="1554480"/>
          </a:xfrm>
          <a:prstGeom prst="roundRect">
            <a:avLst>
              <a:gd name="adj" fmla="val 4706"/>
            </a:avLst>
          </a:prstGeom>
          <a:solidFill>
            <a:srgbClr val="1E2A38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280160"/>
            <a:ext cx="54864" cy="1554480"/>
          </a:xfrm>
          <a:prstGeom prst="rect">
            <a:avLst/>
          </a:prstGeom>
          <a:solidFill>
            <a:srgbClr val="FFC76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32588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C766"/>
                </a:solidFill>
              </a:rPr>
              <a:t>DEPARTMENT OF STATE — IRM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05840" y="1554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NGEM — Next-Generation Enterprise Monitoring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1874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DC"/>
                </a:solidFill>
              </a:rPr>
              <a:t>►  15+ monitoring tools consolidated into single unified platform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1488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DC"/>
                </a:solidFill>
              </a:rPr>
              <a:t>►  Mean time to detect (MTTD) reduced from 45 minutes to under 3 minutes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88720" y="24231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DC"/>
                </a:solidFill>
              </a:rPr>
              <a:t>►  98% reduction in false-positive alerts across global diplomatic missions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017520"/>
            <a:ext cx="10725912" cy="1554480"/>
          </a:xfrm>
          <a:prstGeom prst="roundRect">
            <a:avLst>
              <a:gd name="adj" fmla="val 4706"/>
            </a:avLst>
          </a:prstGeom>
          <a:solidFill>
            <a:srgbClr val="1E2A38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017520"/>
            <a:ext cx="54864" cy="1554480"/>
          </a:xfrm>
          <a:prstGeom prst="rect">
            <a:avLst/>
          </a:prstGeom>
          <a:solidFill>
            <a:srgbClr val="FFC766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06324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C766"/>
                </a:solidFill>
              </a:rPr>
              <a:t>DEPARTMENT OF STATE — DIPLOMATIC SECURITY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05840" y="3291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SPARTA PSIM — Physical Security Information Management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61188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DC"/>
                </a:solidFill>
              </a:rPr>
              <a:t>►  Response time reduced from 12 minutes to 90 seconds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88720" y="38862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DC"/>
                </a:solidFill>
              </a:rPr>
              <a:t>►  10,000+ sensors integrated across 150+ diplomatic facilities worldwide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88720" y="4160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DC"/>
                </a:solidFill>
              </a:rPr>
              <a:t>►  94% AI-powered threat detection accuracy supporting $73M modernization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754880"/>
            <a:ext cx="10725912" cy="1554480"/>
          </a:xfrm>
          <a:prstGeom prst="roundRect">
            <a:avLst>
              <a:gd name="adj" fmla="val 4706"/>
            </a:avLst>
          </a:prstGeom>
          <a:solidFill>
            <a:srgbClr val="1E2A38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4754880"/>
            <a:ext cx="54864" cy="1554480"/>
          </a:xfrm>
          <a:prstGeom prst="rect">
            <a:avLst/>
          </a:prstGeom>
          <a:solidFill>
            <a:srgbClr val="FFC766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480060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C766"/>
                </a:solidFill>
              </a:rPr>
              <a:t>DMDC, DEPARTMENT OF DEFENSE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05840" y="5029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RAPIDS/DEERS — Military ID Modernization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88720" y="53492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DC"/>
                </a:solidFill>
              </a:rPr>
              <a:t>►  ID issuance time reduced from 30 minutes to 8 minutes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88720" y="56235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DC"/>
                </a:solidFill>
              </a:rPr>
              <a:t>►  95% of legacy COBOL systems migrated to cloud-native architecture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88720" y="589788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DC"/>
                </a:solidFill>
              </a:rPr>
              <a:t>►  18M+ annual identity transactions processed with zero security incidents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F6070"/>
                </a:solidFill>
              </a:rPr>
              <a:t>CybitSolutions — A Division of AFANO Group · SDVOSB · MBE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888"/>
                </a:solidFill>
              </a:rPr>
              <a:t>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-1371600"/>
            <a:ext cx="4572000" cy="4572000"/>
          </a:xfrm>
          <a:prstGeom prst="ellipse">
            <a:avLst/>
          </a:prstGeom>
          <a:solidFill>
            <a:srgbClr val="13C0F5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Leadership Team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005840"/>
            <a:ext cx="1371600" cy="27432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37160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1E2A38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371600"/>
            <a:ext cx="3429000" cy="45720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9" name="Shape 7"/>
          <p:cNvSpPr/>
          <p:nvPr/>
        </p:nvSpPr>
        <p:spPr>
          <a:xfrm>
            <a:off x="1993392" y="1554480"/>
            <a:ext cx="914400" cy="914400"/>
          </a:xfrm>
          <a:prstGeom prst="ellipse">
            <a:avLst/>
          </a:prstGeom>
          <a:solidFill>
            <a:srgbClr val="0B1C2E"/>
          </a:solidFill>
          <a:ln w="19050">
            <a:solidFill>
              <a:srgbClr val="13C0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93392" y="1554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C0F5"/>
                </a:solidFill>
              </a:rPr>
              <a:t>AA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680" y="25146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Adupedee "Prof" Ababio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74320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C0F5"/>
                </a:solidFill>
              </a:rPr>
              <a:t>Chief Architect / CISO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30175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0A8B0"/>
                </a:solidFill>
              </a:rPr>
              <a:t>Enterprise Security Architecture · Zero-Trust &amp; NIST Compliance · 20+ years of federal cybersecurity leadership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434840" y="137160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1E2A38"/>
          </a:solidFill>
          <a:ln/>
        </p:spPr>
      </p:sp>
      <p:sp>
        <p:nvSpPr>
          <p:cNvPr id="15" name="Shape 13"/>
          <p:cNvSpPr/>
          <p:nvPr/>
        </p:nvSpPr>
        <p:spPr>
          <a:xfrm>
            <a:off x="4434840" y="1371600"/>
            <a:ext cx="3429000" cy="45720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16" name="Shape 14"/>
          <p:cNvSpPr/>
          <p:nvPr/>
        </p:nvSpPr>
        <p:spPr>
          <a:xfrm>
            <a:off x="5696712" y="1554480"/>
            <a:ext cx="914400" cy="914400"/>
          </a:xfrm>
          <a:prstGeom prst="ellipse">
            <a:avLst/>
          </a:prstGeom>
          <a:solidFill>
            <a:srgbClr val="0B1C2E"/>
          </a:solidFill>
          <a:ln w="19050">
            <a:solidFill>
              <a:srgbClr val="13C0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96712" y="1554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C0F5"/>
                </a:solidFill>
              </a:rPr>
              <a:t>CA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0" y="25146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Christian "Chris" Achemdey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274320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C0F5"/>
                </a:solidFill>
              </a:rPr>
              <a:t>Division VP of Technology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0" y="30175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0A8B0"/>
                </a:solidFill>
              </a:rPr>
              <a:t>Cloud Architecture · DevSecOps · AI/ML for Government · Multi-cloud platform engineering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138160" y="137160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1E2A38"/>
          </a:solidFill>
          <a:ln/>
        </p:spPr>
      </p:sp>
      <p:sp>
        <p:nvSpPr>
          <p:cNvPr id="22" name="Shape 20"/>
          <p:cNvSpPr/>
          <p:nvPr/>
        </p:nvSpPr>
        <p:spPr>
          <a:xfrm>
            <a:off x="8138160" y="1371600"/>
            <a:ext cx="3429000" cy="45720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23" name="Shape 21"/>
          <p:cNvSpPr/>
          <p:nvPr/>
        </p:nvSpPr>
        <p:spPr>
          <a:xfrm>
            <a:off x="9400032" y="1554480"/>
            <a:ext cx="914400" cy="914400"/>
          </a:xfrm>
          <a:prstGeom prst="ellipse">
            <a:avLst/>
          </a:prstGeom>
          <a:solidFill>
            <a:srgbClr val="0B1C2E"/>
          </a:solidFill>
          <a:ln w="19050">
            <a:solidFill>
              <a:srgbClr val="13C0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00032" y="1554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C0F5"/>
                </a:solidFill>
              </a:rPr>
              <a:t>AI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275320" y="25146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Adaobi Ikpeze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75320" y="274320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C0F5"/>
                </a:solidFill>
              </a:rPr>
              <a:t>Division VP of Operations &amp; HR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75320" y="30175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0A8B0"/>
                </a:solidFill>
              </a:rPr>
              <a:t>Program Management · Human Capital Strategy · Federal Compliance · Organizational Excellence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31520" y="393192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1E2A38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" y="3931920"/>
            <a:ext cx="3429000" cy="45720"/>
          </a:xfrm>
          <a:prstGeom prst="rect">
            <a:avLst/>
          </a:prstGeom>
          <a:solidFill>
            <a:srgbClr val="FFC766"/>
          </a:solidFill>
          <a:ln/>
        </p:spPr>
      </p:sp>
      <p:sp>
        <p:nvSpPr>
          <p:cNvPr id="30" name="Shape 28"/>
          <p:cNvSpPr/>
          <p:nvPr/>
        </p:nvSpPr>
        <p:spPr>
          <a:xfrm>
            <a:off x="1993392" y="4114800"/>
            <a:ext cx="914400" cy="914400"/>
          </a:xfrm>
          <a:prstGeom prst="ellipse">
            <a:avLst/>
          </a:prstGeom>
          <a:solidFill>
            <a:srgbClr val="0B1C2E"/>
          </a:solidFill>
          <a:ln w="19050">
            <a:solidFill>
              <a:srgbClr val="13C0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93392" y="4114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C0F5"/>
                </a:solidFill>
              </a:rPr>
              <a:t>SO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68680" y="50749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Stanley Opara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68680" y="530352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C0F5"/>
                </a:solidFill>
              </a:rPr>
              <a:t>Division VP of Cybersecurity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68680" y="55778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0A8B0"/>
                </a:solidFill>
              </a:rPr>
              <a:t>SOC/MDR Operations · Zero-Trust Implementation · RMF Authorization · Threat Intelligence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434840" y="393192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1E2A38"/>
          </a:solidFill>
          <a:ln/>
        </p:spPr>
      </p:sp>
      <p:sp>
        <p:nvSpPr>
          <p:cNvPr id="36" name="Shape 34"/>
          <p:cNvSpPr/>
          <p:nvPr/>
        </p:nvSpPr>
        <p:spPr>
          <a:xfrm>
            <a:off x="4434840" y="3931920"/>
            <a:ext cx="3429000" cy="45720"/>
          </a:xfrm>
          <a:prstGeom prst="rect">
            <a:avLst/>
          </a:prstGeom>
          <a:solidFill>
            <a:srgbClr val="FFC766"/>
          </a:solidFill>
          <a:ln/>
        </p:spPr>
      </p:sp>
      <p:sp>
        <p:nvSpPr>
          <p:cNvPr id="37" name="Shape 35"/>
          <p:cNvSpPr/>
          <p:nvPr/>
        </p:nvSpPr>
        <p:spPr>
          <a:xfrm>
            <a:off x="5696712" y="4114800"/>
            <a:ext cx="914400" cy="914400"/>
          </a:xfrm>
          <a:prstGeom prst="ellipse">
            <a:avLst/>
          </a:prstGeom>
          <a:solidFill>
            <a:srgbClr val="0B1C2E"/>
          </a:solidFill>
          <a:ln w="19050">
            <a:solidFill>
              <a:srgbClr val="13C0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96712" y="4114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C0F5"/>
                </a:solidFill>
              </a:rPr>
              <a:t>SG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4572000" y="50749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Stanley Gorman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0" y="530352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C0F5"/>
                </a:solidFill>
              </a:rPr>
              <a:t>Division VP of Cloud &amp; Infrastructure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0" y="55778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0A8B0"/>
                </a:solidFill>
              </a:rPr>
              <a:t>Multi-Cloud (AWS, Azure, GCP) · FedRAMP Authorization · IL4/IL5 Environments · Migration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138160" y="393192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1E2A38"/>
          </a:solidFill>
          <a:ln/>
        </p:spPr>
      </p:sp>
      <p:sp>
        <p:nvSpPr>
          <p:cNvPr id="43" name="Shape 41"/>
          <p:cNvSpPr/>
          <p:nvPr/>
        </p:nvSpPr>
        <p:spPr>
          <a:xfrm>
            <a:off x="8138160" y="3931920"/>
            <a:ext cx="3429000" cy="45720"/>
          </a:xfrm>
          <a:prstGeom prst="rect">
            <a:avLst/>
          </a:prstGeom>
          <a:solidFill>
            <a:srgbClr val="FFC766"/>
          </a:solidFill>
          <a:ln/>
        </p:spPr>
      </p:sp>
      <p:sp>
        <p:nvSpPr>
          <p:cNvPr id="44" name="Shape 42"/>
          <p:cNvSpPr/>
          <p:nvPr/>
        </p:nvSpPr>
        <p:spPr>
          <a:xfrm>
            <a:off x="9400032" y="4114800"/>
            <a:ext cx="914400" cy="914400"/>
          </a:xfrm>
          <a:prstGeom prst="ellipse">
            <a:avLst/>
          </a:prstGeom>
          <a:solidFill>
            <a:srgbClr val="0B1C2E"/>
          </a:solidFill>
          <a:ln w="19050">
            <a:solidFill>
              <a:srgbClr val="13C0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400032" y="4114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C0F5"/>
                </a:solidFill>
              </a:rPr>
              <a:t>AT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8275320" y="50749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Alpha Taylor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275320" y="530352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C0F5"/>
                </a:solidFill>
              </a:rPr>
              <a:t>Division VP of Government Programs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275320" y="55778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0A8B0"/>
                </a:solidFill>
              </a:rPr>
              <a:t>Government Acquisition · Federal Program Management · Contract Strategy · Stakeholder Relations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F6070"/>
                </a:solidFill>
              </a:rPr>
              <a:t>CybitSolutions — A Division of AFANO Group · SDVOSB · MBE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888"/>
                </a:solidFill>
              </a:rPr>
              <a:t>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-1371600"/>
            <a:ext cx="4572000" cy="4572000"/>
          </a:xfrm>
          <a:prstGeom prst="ellipse">
            <a:avLst/>
          </a:prstGeom>
          <a:solidFill>
            <a:srgbClr val="13C0F5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Certifications &amp; Clearances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005840"/>
            <a:ext cx="1371600" cy="27432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37160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1E2A38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371600"/>
            <a:ext cx="54864" cy="1005840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9" name="Shape 7"/>
          <p:cNvSpPr/>
          <p:nvPr/>
        </p:nvSpPr>
        <p:spPr>
          <a:xfrm>
            <a:off x="960120" y="1600200"/>
            <a:ext cx="502920" cy="502920"/>
          </a:xfrm>
          <a:prstGeom prst="ellipse">
            <a:avLst/>
          </a:prstGeom>
          <a:solidFill>
            <a:srgbClr val="13C0F5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C0F5"/>
                </a:solidFill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45920" y="1508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SDVOSB Certified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1828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8B0"/>
                </a:solidFill>
              </a:rPr>
              <a:t>Service-Disabled Veteran-Owned Small Business via AFANO Group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0" y="137160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1E2A38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1371600"/>
            <a:ext cx="54864" cy="1005840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629400" y="1600200"/>
            <a:ext cx="502920" cy="502920"/>
          </a:xfrm>
          <a:prstGeom prst="ellipse">
            <a:avLst/>
          </a:prstGeom>
          <a:solidFill>
            <a:srgbClr val="13C0F5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C0F5"/>
                </a:solidFill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0" y="1508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MBE Certified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0" y="1828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8B0"/>
                </a:solidFill>
              </a:rPr>
              <a:t>Minority Business Enterprise via AFANO Group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260604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1E2A38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2606040"/>
            <a:ext cx="54864" cy="1005840"/>
          </a:xfrm>
          <a:prstGeom prst="rect">
            <a:avLst/>
          </a:prstGeom>
          <a:solidFill>
            <a:srgbClr val="FFC766"/>
          </a:solidFill>
          <a:ln/>
        </p:spPr>
      </p:sp>
      <p:sp>
        <p:nvSpPr>
          <p:cNvPr id="21" name="Shape 19"/>
          <p:cNvSpPr/>
          <p:nvPr/>
        </p:nvSpPr>
        <p:spPr>
          <a:xfrm>
            <a:off x="960120" y="2834640"/>
            <a:ext cx="502920" cy="502920"/>
          </a:xfrm>
          <a:prstGeom prst="ellipse">
            <a:avLst/>
          </a:prstGeom>
          <a:solidFill>
            <a:srgbClr val="FFC766">
              <a:alpha val="1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766"/>
                </a:solidFill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45920" y="2743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CMMC Level 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645920" y="3063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8B0"/>
                </a:solidFill>
              </a:rPr>
              <a:t>Cybersecurity Maturity Model Certification — Good Cyber Hygiene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0" y="260604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1E2A38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0" y="2606040"/>
            <a:ext cx="54864" cy="1005840"/>
          </a:xfrm>
          <a:prstGeom prst="rect">
            <a:avLst/>
          </a:prstGeom>
          <a:solidFill>
            <a:srgbClr val="FFC766"/>
          </a:solidFill>
          <a:ln/>
        </p:spPr>
      </p:sp>
      <p:sp>
        <p:nvSpPr>
          <p:cNvPr id="27" name="Shape 25"/>
          <p:cNvSpPr/>
          <p:nvPr/>
        </p:nvSpPr>
        <p:spPr>
          <a:xfrm>
            <a:off x="6629400" y="2834640"/>
            <a:ext cx="502920" cy="502920"/>
          </a:xfrm>
          <a:prstGeom prst="ellipse">
            <a:avLst/>
          </a:prstGeom>
          <a:solidFill>
            <a:srgbClr val="FFC766">
              <a:alpha val="1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62940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766"/>
                </a:solidFill>
              </a:rPr>
              <a:t>✓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315200" y="2743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ISO 27001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0" y="3063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8B0"/>
                </a:solidFill>
              </a:rPr>
              <a:t>Information Security Management System certified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31520" y="384048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1E2A38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3840480"/>
            <a:ext cx="54864" cy="1005840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33" name="Shape 31"/>
          <p:cNvSpPr/>
          <p:nvPr/>
        </p:nvSpPr>
        <p:spPr>
          <a:xfrm>
            <a:off x="960120" y="4069080"/>
            <a:ext cx="502920" cy="502920"/>
          </a:xfrm>
          <a:prstGeom prst="ellipse">
            <a:avLst/>
          </a:prstGeom>
          <a:solidFill>
            <a:srgbClr val="13C0F5">
              <a:alpha val="1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96012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C0F5"/>
                </a:solidFill>
              </a:rPr>
              <a:t>✓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645920" y="3977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ISO 9001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645920" y="4297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8B0"/>
                </a:solidFill>
              </a:rPr>
              <a:t>Quality Management System certified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00800" y="384048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1E2A38"/>
          </a:solidFill>
          <a:ln/>
        </p:spPr>
      </p:sp>
      <p:sp>
        <p:nvSpPr>
          <p:cNvPr id="38" name="Shape 36"/>
          <p:cNvSpPr/>
          <p:nvPr/>
        </p:nvSpPr>
        <p:spPr>
          <a:xfrm>
            <a:off x="6400800" y="3840480"/>
            <a:ext cx="54864" cy="1005840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39" name="Shape 37"/>
          <p:cNvSpPr/>
          <p:nvPr/>
        </p:nvSpPr>
        <p:spPr>
          <a:xfrm>
            <a:off x="6629400" y="4069080"/>
            <a:ext cx="502920" cy="502920"/>
          </a:xfrm>
          <a:prstGeom prst="ellipse">
            <a:avLst/>
          </a:prstGeom>
          <a:solidFill>
            <a:srgbClr val="13C0F5">
              <a:alpha val="15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62940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C0F5"/>
                </a:solidFill>
              </a:rPr>
              <a:t>✓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315200" y="3977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SOC 2 Type II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315200" y="4297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8B0"/>
                </a:solidFill>
              </a:rPr>
              <a:t>Service Organization Control for security, availability, confidentiality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31520" y="507492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1E2A38"/>
          </a:solidFill>
          <a:ln/>
        </p:spPr>
      </p:sp>
      <p:sp>
        <p:nvSpPr>
          <p:cNvPr id="44" name="Shape 42"/>
          <p:cNvSpPr/>
          <p:nvPr/>
        </p:nvSpPr>
        <p:spPr>
          <a:xfrm>
            <a:off x="731520" y="5074920"/>
            <a:ext cx="54864" cy="1005840"/>
          </a:xfrm>
          <a:prstGeom prst="rect">
            <a:avLst/>
          </a:prstGeom>
          <a:solidFill>
            <a:srgbClr val="FFC766"/>
          </a:solidFill>
          <a:ln/>
        </p:spPr>
      </p:sp>
      <p:sp>
        <p:nvSpPr>
          <p:cNvPr id="45" name="Shape 43"/>
          <p:cNvSpPr/>
          <p:nvPr/>
        </p:nvSpPr>
        <p:spPr>
          <a:xfrm>
            <a:off x="960120" y="5303520"/>
            <a:ext cx="502920" cy="502920"/>
          </a:xfrm>
          <a:prstGeom prst="ellipse">
            <a:avLst/>
          </a:prstGeom>
          <a:solidFill>
            <a:srgbClr val="FFC766">
              <a:alpha val="1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960120" y="5303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766"/>
                </a:solidFill>
              </a:rPr>
              <a:t>✓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645920" y="5212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FedRAMP Authorized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645920" y="5532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8B0"/>
                </a:solidFill>
              </a:rPr>
              <a:t>Federal Risk and Authorization Management Program solutions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400800" y="507492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1E2A38"/>
          </a:solidFill>
          <a:ln/>
        </p:spPr>
      </p:sp>
      <p:sp>
        <p:nvSpPr>
          <p:cNvPr id="50" name="Shape 48"/>
          <p:cNvSpPr/>
          <p:nvPr/>
        </p:nvSpPr>
        <p:spPr>
          <a:xfrm>
            <a:off x="6400800" y="5074920"/>
            <a:ext cx="54864" cy="1005840"/>
          </a:xfrm>
          <a:prstGeom prst="rect">
            <a:avLst/>
          </a:prstGeom>
          <a:solidFill>
            <a:srgbClr val="FFC766"/>
          </a:solidFill>
          <a:ln/>
        </p:spPr>
      </p:sp>
      <p:sp>
        <p:nvSpPr>
          <p:cNvPr id="51" name="Shape 49"/>
          <p:cNvSpPr/>
          <p:nvPr/>
        </p:nvSpPr>
        <p:spPr>
          <a:xfrm>
            <a:off x="6629400" y="5303520"/>
            <a:ext cx="502920" cy="502920"/>
          </a:xfrm>
          <a:prstGeom prst="ellipse">
            <a:avLst/>
          </a:prstGeom>
          <a:solidFill>
            <a:srgbClr val="FFC766">
              <a:alpha val="15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629400" y="5303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766"/>
                </a:solidFill>
              </a:rPr>
              <a:t>✓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7315200" y="5212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TS/SCI Facility Clearance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7315200" y="5532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8B0"/>
                </a:solidFill>
              </a:rPr>
              <a:t>Top Secret / Sensitive Compartmented Information cleared facility and personnel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F6070"/>
                </a:solidFill>
              </a:rPr>
              <a:t>CybitSolutions — A Division of AFANO Group · SDVOSB · MBE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888"/>
                </a:solidFill>
              </a:rPr>
              <a:t>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-1371600"/>
            <a:ext cx="4572000" cy="4572000"/>
          </a:xfrm>
          <a:prstGeom prst="ellipse">
            <a:avLst/>
          </a:prstGeom>
          <a:solidFill>
            <a:srgbClr val="13C0F5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Contract Vehicles &amp; NAICS Codes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005840"/>
            <a:ext cx="1371600" cy="27432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C0F5"/>
                </a:solidFill>
              </a:rPr>
              <a:t>CONTRACT VEHICLES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5303520" cy="365760"/>
          </a:xfrm>
          <a:prstGeom prst="roundRect">
            <a:avLst>
              <a:gd name="adj" fmla="val 12500"/>
            </a:avLst>
          </a:prstGeom>
          <a:solidFill>
            <a:srgbClr val="1E2A38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►  GSA MAS (Multiple Award Schedule)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5303520" cy="365760"/>
          </a:xfrm>
          <a:prstGeom prst="roundRect">
            <a:avLst>
              <a:gd name="adj" fmla="val 12500"/>
            </a:avLst>
          </a:prstGeom>
          <a:solidFill>
            <a:srgbClr val="1E2A38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►  CIO-SP3 / CIO-SP4 (NIH NITAAC)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240280"/>
            <a:ext cx="5303520" cy="365760"/>
          </a:xfrm>
          <a:prstGeom prst="roundRect">
            <a:avLst>
              <a:gd name="adj" fmla="val 12500"/>
            </a:avLst>
          </a:prstGeom>
          <a:solidFill>
            <a:srgbClr val="1E2A38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240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►  SEWP V (NASA)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2240280"/>
            <a:ext cx="5303520" cy="365760"/>
          </a:xfrm>
          <a:prstGeom prst="roundRect">
            <a:avLst>
              <a:gd name="adj" fmla="val 12500"/>
            </a:avLst>
          </a:prstGeom>
          <a:solidFill>
            <a:srgbClr val="1E2A38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2240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►  Alliant 2 Small Business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743200"/>
            <a:ext cx="5303520" cy="365760"/>
          </a:xfrm>
          <a:prstGeom prst="roundRect">
            <a:avLst>
              <a:gd name="adj" fmla="val 12500"/>
            </a:avLst>
          </a:prstGeom>
          <a:solidFill>
            <a:srgbClr val="1E2A38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2743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►  STARS III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0" y="2743200"/>
            <a:ext cx="5303520" cy="365760"/>
          </a:xfrm>
          <a:prstGeom prst="roundRect">
            <a:avLst>
              <a:gd name="adj" fmla="val 12500"/>
            </a:avLst>
          </a:prstGeom>
          <a:solidFill>
            <a:srgbClr val="1E2A38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2743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►  OASIS+ Small Business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246120"/>
            <a:ext cx="5303520" cy="365760"/>
          </a:xfrm>
          <a:prstGeom prst="roundRect">
            <a:avLst>
              <a:gd name="adj" fmla="val 12500"/>
            </a:avLst>
          </a:prstGeom>
          <a:solidFill>
            <a:srgbClr val="1E2A38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246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►  DISA SETI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3246120"/>
            <a:ext cx="5303520" cy="365760"/>
          </a:xfrm>
          <a:prstGeom prst="roundRect">
            <a:avLst>
              <a:gd name="adj" fmla="val 12500"/>
            </a:avLst>
          </a:prstGeom>
          <a:solidFill>
            <a:srgbClr val="1E2A38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3246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►  Army ITES-3S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3931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766"/>
                </a:solidFill>
              </a:rPr>
              <a:t>NAICS CODES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4389120"/>
            <a:ext cx="5303520" cy="365760"/>
          </a:xfrm>
          <a:prstGeom prst="roundRect">
            <a:avLst>
              <a:gd name="adj" fmla="val 12500"/>
            </a:avLst>
          </a:prstGeom>
          <a:solidFill>
            <a:srgbClr val="1E2A38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3891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766"/>
                </a:solidFill>
              </a:rPr>
              <a:t>541512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554480" y="43891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DC"/>
                </a:solidFill>
              </a:rPr>
              <a:t>— Computer Systems Design Services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0" y="4389120"/>
            <a:ext cx="5303520" cy="365760"/>
          </a:xfrm>
          <a:prstGeom prst="roundRect">
            <a:avLst>
              <a:gd name="adj" fmla="val 12500"/>
            </a:avLst>
          </a:prstGeom>
          <a:solidFill>
            <a:srgbClr val="1E2A38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43891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766"/>
                </a:solidFill>
              </a:rPr>
              <a:t>541511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223760" y="43891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DC"/>
                </a:solidFill>
              </a:rPr>
              <a:t>— Custom Computer Programming Services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1520" y="4892040"/>
            <a:ext cx="5303520" cy="365760"/>
          </a:xfrm>
          <a:prstGeom prst="roundRect">
            <a:avLst>
              <a:gd name="adj" fmla="val 12500"/>
            </a:avLst>
          </a:prstGeom>
          <a:solidFill>
            <a:srgbClr val="1E2A38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48920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766"/>
                </a:solidFill>
              </a:rPr>
              <a:t>541513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554480" y="48920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DC"/>
                </a:solidFill>
              </a:rPr>
              <a:t>— Computer Facilities Management Services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0" y="4892040"/>
            <a:ext cx="5303520" cy="365760"/>
          </a:xfrm>
          <a:prstGeom prst="roundRect">
            <a:avLst>
              <a:gd name="adj" fmla="val 12500"/>
            </a:avLst>
          </a:prstGeom>
          <a:solidFill>
            <a:srgbClr val="1E2A38"/>
          </a:solidFill>
          <a:ln/>
        </p:spPr>
      </p:sp>
      <p:sp>
        <p:nvSpPr>
          <p:cNvPr id="35" name="Text 33"/>
          <p:cNvSpPr/>
          <p:nvPr/>
        </p:nvSpPr>
        <p:spPr>
          <a:xfrm>
            <a:off x="6537960" y="48920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766"/>
                </a:solidFill>
              </a:rPr>
              <a:t>541519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223760" y="48920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DC"/>
                </a:solidFill>
              </a:rPr>
              <a:t>— Other Computer Related Services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1520" y="5394960"/>
            <a:ext cx="5303520" cy="365760"/>
          </a:xfrm>
          <a:prstGeom prst="roundRect">
            <a:avLst>
              <a:gd name="adj" fmla="val 12500"/>
            </a:avLst>
          </a:prstGeom>
          <a:solidFill>
            <a:srgbClr val="1E2A38"/>
          </a:solidFill>
          <a:ln/>
        </p:spPr>
      </p:sp>
      <p:sp>
        <p:nvSpPr>
          <p:cNvPr id="38" name="Text 36"/>
          <p:cNvSpPr/>
          <p:nvPr/>
        </p:nvSpPr>
        <p:spPr>
          <a:xfrm>
            <a:off x="868680" y="53949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766"/>
                </a:solidFill>
              </a:rPr>
              <a:t>518210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554480" y="5394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DC"/>
                </a:solidFill>
              </a:rPr>
              <a:t>— Data Processing &amp; Hosting Services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0" y="5394960"/>
            <a:ext cx="5303520" cy="365760"/>
          </a:xfrm>
          <a:prstGeom prst="roundRect">
            <a:avLst>
              <a:gd name="adj" fmla="val 12500"/>
            </a:avLst>
          </a:prstGeom>
          <a:solidFill>
            <a:srgbClr val="1E2A38"/>
          </a:solidFill>
          <a:ln/>
        </p:spPr>
      </p:sp>
      <p:sp>
        <p:nvSpPr>
          <p:cNvPr id="41" name="Text 39"/>
          <p:cNvSpPr/>
          <p:nvPr/>
        </p:nvSpPr>
        <p:spPr>
          <a:xfrm>
            <a:off x="6537960" y="53949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766"/>
                </a:solidFill>
              </a:rPr>
              <a:t>541330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23760" y="5394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DC"/>
                </a:solidFill>
              </a:rPr>
              <a:t>— Engineering Services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31520" y="5897880"/>
            <a:ext cx="5303520" cy="365760"/>
          </a:xfrm>
          <a:prstGeom prst="roundRect">
            <a:avLst>
              <a:gd name="adj" fmla="val 12500"/>
            </a:avLst>
          </a:prstGeom>
          <a:solidFill>
            <a:srgbClr val="1E2A38"/>
          </a:solidFill>
          <a:ln/>
        </p:spPr>
      </p:sp>
      <p:sp>
        <p:nvSpPr>
          <p:cNvPr id="44" name="Text 42"/>
          <p:cNvSpPr/>
          <p:nvPr/>
        </p:nvSpPr>
        <p:spPr>
          <a:xfrm>
            <a:off x="868680" y="5897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766"/>
                </a:solidFill>
              </a:rPr>
              <a:t>561210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554480" y="58978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DC"/>
                </a:solidFill>
              </a:rPr>
              <a:t>— Facilities Support Services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00800" y="5897880"/>
            <a:ext cx="5303520" cy="365760"/>
          </a:xfrm>
          <a:prstGeom prst="roundRect">
            <a:avLst>
              <a:gd name="adj" fmla="val 12500"/>
            </a:avLst>
          </a:prstGeom>
          <a:solidFill>
            <a:srgbClr val="1E2A38"/>
          </a:solidFill>
          <a:ln/>
        </p:spPr>
      </p:sp>
      <p:sp>
        <p:nvSpPr>
          <p:cNvPr id="47" name="Text 45"/>
          <p:cNvSpPr/>
          <p:nvPr/>
        </p:nvSpPr>
        <p:spPr>
          <a:xfrm>
            <a:off x="6537960" y="5897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766"/>
                </a:solidFill>
              </a:rPr>
              <a:t>611430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223760" y="58978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DC"/>
                </a:solidFill>
              </a:rPr>
              <a:t>— Professional &amp; Management Development Training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F6070"/>
                </a:solidFill>
              </a:rPr>
              <a:t>CybitSolutions — A Division of AFANO Group · SDVOSB · MBE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888"/>
                </a:solidFill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-1371600"/>
            <a:ext cx="4572000" cy="4572000"/>
          </a:xfrm>
          <a:prstGeom prst="ellipse">
            <a:avLst/>
          </a:prstGeom>
          <a:solidFill>
            <a:srgbClr val="13C0F5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Technology Partners &amp; Differentiators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005840"/>
            <a:ext cx="1371600" cy="27432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C0F5"/>
                </a:solidFill>
              </a:rPr>
              <a:t>STRATEGIC TECHNOLOGY PARTNERS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2057400" cy="365760"/>
          </a:xfrm>
          <a:prstGeom prst="roundRect">
            <a:avLst>
              <a:gd name="adj" fmla="val 12500"/>
            </a:avLst>
          </a:prstGeom>
          <a:solidFill>
            <a:srgbClr val="1E2A38"/>
          </a:solidFill>
          <a:ln w="6350">
            <a:solidFill>
              <a:srgbClr val="2B3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373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Amazon Web Services (AWS)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971800" y="1737360"/>
            <a:ext cx="2057400" cy="365760"/>
          </a:xfrm>
          <a:prstGeom prst="roundRect">
            <a:avLst>
              <a:gd name="adj" fmla="val 12500"/>
            </a:avLst>
          </a:prstGeom>
          <a:solidFill>
            <a:srgbClr val="1E2A38"/>
          </a:solidFill>
          <a:ln w="6350">
            <a:solidFill>
              <a:srgbClr val="2B3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17373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Microsoft Azure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212080" y="1737360"/>
            <a:ext cx="2057400" cy="365760"/>
          </a:xfrm>
          <a:prstGeom prst="roundRect">
            <a:avLst>
              <a:gd name="adj" fmla="val 12500"/>
            </a:avLst>
          </a:prstGeom>
          <a:solidFill>
            <a:srgbClr val="1E2A38"/>
          </a:solidFill>
          <a:ln w="6350">
            <a:solidFill>
              <a:srgbClr val="2B3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17373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Google Cloud Platform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452360" y="1737360"/>
            <a:ext cx="2057400" cy="365760"/>
          </a:xfrm>
          <a:prstGeom prst="roundRect">
            <a:avLst>
              <a:gd name="adj" fmla="val 12500"/>
            </a:avLst>
          </a:prstGeom>
          <a:solidFill>
            <a:srgbClr val="1E2A38"/>
          </a:solidFill>
          <a:ln w="6350">
            <a:solidFill>
              <a:srgbClr val="2B3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52360" y="17373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ServiceNow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692640" y="1737360"/>
            <a:ext cx="2057400" cy="365760"/>
          </a:xfrm>
          <a:prstGeom prst="roundRect">
            <a:avLst>
              <a:gd name="adj" fmla="val 12500"/>
            </a:avLst>
          </a:prstGeom>
          <a:solidFill>
            <a:srgbClr val="1E2A38"/>
          </a:solidFill>
          <a:ln w="6350">
            <a:solidFill>
              <a:srgbClr val="2B3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0" y="17373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Splunk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31520" y="2240280"/>
            <a:ext cx="2057400" cy="365760"/>
          </a:xfrm>
          <a:prstGeom prst="roundRect">
            <a:avLst>
              <a:gd name="adj" fmla="val 12500"/>
            </a:avLst>
          </a:prstGeom>
          <a:solidFill>
            <a:srgbClr val="1E2A38"/>
          </a:solidFill>
          <a:ln w="6350">
            <a:solidFill>
              <a:srgbClr val="2B3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2402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Cisco Systems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971800" y="2240280"/>
            <a:ext cx="2057400" cy="365760"/>
          </a:xfrm>
          <a:prstGeom prst="roundRect">
            <a:avLst>
              <a:gd name="adj" fmla="val 12500"/>
            </a:avLst>
          </a:prstGeom>
          <a:solidFill>
            <a:srgbClr val="1E2A38"/>
          </a:solidFill>
          <a:ln w="6350">
            <a:solidFill>
              <a:srgbClr val="2B3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71800" y="22402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CrowdStrike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212080" y="2240280"/>
            <a:ext cx="2057400" cy="365760"/>
          </a:xfrm>
          <a:prstGeom prst="roundRect">
            <a:avLst>
              <a:gd name="adj" fmla="val 12500"/>
            </a:avLst>
          </a:prstGeom>
          <a:solidFill>
            <a:srgbClr val="1E2A38"/>
          </a:solidFill>
          <a:ln w="6350">
            <a:solidFill>
              <a:srgbClr val="2B3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22402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HashiCorp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452360" y="2240280"/>
            <a:ext cx="2057400" cy="365760"/>
          </a:xfrm>
          <a:prstGeom prst="roundRect">
            <a:avLst>
              <a:gd name="adj" fmla="val 12500"/>
            </a:avLst>
          </a:prstGeom>
          <a:solidFill>
            <a:srgbClr val="1E2A38"/>
          </a:solidFill>
          <a:ln w="6350">
            <a:solidFill>
              <a:srgbClr val="2B3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22402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Databricks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692640" y="2240280"/>
            <a:ext cx="2057400" cy="365760"/>
          </a:xfrm>
          <a:prstGeom prst="roundRect">
            <a:avLst>
              <a:gd name="adj" fmla="val 12500"/>
            </a:avLst>
          </a:prstGeom>
          <a:solidFill>
            <a:srgbClr val="1E2A38"/>
          </a:solidFill>
          <a:ln w="6350">
            <a:solidFill>
              <a:srgbClr val="2B3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0" y="22402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IBM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31520" y="2743200"/>
            <a:ext cx="2057400" cy="365760"/>
          </a:xfrm>
          <a:prstGeom prst="roundRect">
            <a:avLst>
              <a:gd name="adj" fmla="val 12500"/>
            </a:avLst>
          </a:prstGeom>
          <a:solidFill>
            <a:srgbClr val="1E2A38"/>
          </a:solidFill>
          <a:ln w="6350">
            <a:solidFill>
              <a:srgbClr val="2B3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27432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Palo Alto Networks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971800" y="2743200"/>
            <a:ext cx="2057400" cy="365760"/>
          </a:xfrm>
          <a:prstGeom prst="roundRect">
            <a:avLst>
              <a:gd name="adj" fmla="val 12500"/>
            </a:avLst>
          </a:prstGeom>
          <a:solidFill>
            <a:srgbClr val="1E2A38"/>
          </a:solidFill>
          <a:ln w="6350">
            <a:solidFill>
              <a:srgbClr val="2B3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71800" y="27432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Dell Technologies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212080" y="2743200"/>
            <a:ext cx="2057400" cy="365760"/>
          </a:xfrm>
          <a:prstGeom prst="roundRect">
            <a:avLst>
              <a:gd name="adj" fmla="val 12500"/>
            </a:avLst>
          </a:prstGeom>
          <a:solidFill>
            <a:srgbClr val="1E2A38"/>
          </a:solidFill>
          <a:ln w="6350">
            <a:solidFill>
              <a:srgbClr val="2B3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27432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VMware (Broadcom)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452360" y="2743200"/>
            <a:ext cx="2057400" cy="365760"/>
          </a:xfrm>
          <a:prstGeom prst="roundRect">
            <a:avLst>
              <a:gd name="adj" fmla="val 12500"/>
            </a:avLst>
          </a:prstGeom>
          <a:solidFill>
            <a:srgbClr val="1E2A38"/>
          </a:solidFill>
          <a:ln w="6350">
            <a:solidFill>
              <a:srgbClr val="2B38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52360" y="27432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Fortinet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9692640" y="2743200"/>
            <a:ext cx="2057400" cy="365760"/>
          </a:xfrm>
          <a:prstGeom prst="roundRect">
            <a:avLst>
              <a:gd name="adj" fmla="val 12500"/>
            </a:avLst>
          </a:prstGeom>
          <a:solidFill>
            <a:srgbClr val="1E2A38"/>
          </a:solidFill>
          <a:ln w="6350">
            <a:solidFill>
              <a:srgbClr val="2B3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92640" y="27432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Red Hat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31520" y="3566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766"/>
                </a:solidFill>
              </a:rPr>
              <a:t>WHY CYBITSOLUTIONS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1520" y="402336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1E2A38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" y="4023360"/>
            <a:ext cx="54864" cy="1005840"/>
          </a:xfrm>
          <a:prstGeom prst="rect">
            <a:avLst/>
          </a:prstGeom>
          <a:solidFill>
            <a:srgbClr val="FFC766"/>
          </a:solidFill>
          <a:ln/>
        </p:spPr>
      </p:sp>
      <p:sp>
        <p:nvSpPr>
          <p:cNvPr id="41" name="Text 39"/>
          <p:cNvSpPr/>
          <p:nvPr/>
        </p:nvSpPr>
        <p:spPr>
          <a:xfrm>
            <a:off x="1005840" y="4114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Mission-First Approach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05840" y="43891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4D8DC"/>
                </a:solidFill>
              </a:rPr>
              <a:t>Every solution designed for operational impact, compliance, and mission success — not just technical metrics.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00800" y="402336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1E2A38"/>
          </a:solidFill>
          <a:ln/>
        </p:spPr>
      </p:sp>
      <p:sp>
        <p:nvSpPr>
          <p:cNvPr id="44" name="Shape 42"/>
          <p:cNvSpPr/>
          <p:nvPr/>
        </p:nvSpPr>
        <p:spPr>
          <a:xfrm>
            <a:off x="6400800" y="4023360"/>
            <a:ext cx="54864" cy="1005840"/>
          </a:xfrm>
          <a:prstGeom prst="rect">
            <a:avLst/>
          </a:prstGeom>
          <a:solidFill>
            <a:srgbClr val="FFC766"/>
          </a:solidFill>
          <a:ln/>
        </p:spPr>
      </p:sp>
      <p:sp>
        <p:nvSpPr>
          <p:cNvPr id="45" name="Text 43"/>
          <p:cNvSpPr/>
          <p:nvPr/>
        </p:nvSpPr>
        <p:spPr>
          <a:xfrm>
            <a:off x="6675120" y="4114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Cleared &amp; Compliant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675120" y="43891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4D8DC"/>
                </a:solidFill>
              </a:rPr>
              <a:t>TS/SCI facility clearance, CMMC L3, ISO 27001, FedRAMP — full compliance posture for the most sensitive programs.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31520" y="521208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1E2A38"/>
          </a:solidFill>
          <a:ln/>
        </p:spPr>
      </p:sp>
      <p:sp>
        <p:nvSpPr>
          <p:cNvPr id="48" name="Shape 46"/>
          <p:cNvSpPr/>
          <p:nvPr/>
        </p:nvSpPr>
        <p:spPr>
          <a:xfrm>
            <a:off x="731520" y="5212080"/>
            <a:ext cx="54864" cy="1005840"/>
          </a:xfrm>
          <a:prstGeom prst="rect">
            <a:avLst/>
          </a:prstGeom>
          <a:solidFill>
            <a:srgbClr val="FFC766"/>
          </a:solidFill>
          <a:ln/>
        </p:spPr>
      </p:sp>
      <p:sp>
        <p:nvSpPr>
          <p:cNvPr id="49" name="Text 47"/>
          <p:cNvSpPr/>
          <p:nvPr/>
        </p:nvSpPr>
        <p:spPr>
          <a:xfrm>
            <a:off x="1005840" y="53035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Agile at Scale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005840" y="5577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4D8DC"/>
                </a:solidFill>
              </a:rPr>
              <a:t>DevSecOps maturity with 2-week sprints, CI/CD automation, and proven delivery across DoD, DoS, DHS, and IC.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400800" y="521208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1E2A38"/>
          </a:solidFill>
          <a:ln/>
        </p:spPr>
      </p:sp>
      <p:sp>
        <p:nvSpPr>
          <p:cNvPr id="52" name="Shape 50"/>
          <p:cNvSpPr/>
          <p:nvPr/>
        </p:nvSpPr>
        <p:spPr>
          <a:xfrm>
            <a:off x="6400800" y="5212080"/>
            <a:ext cx="54864" cy="1005840"/>
          </a:xfrm>
          <a:prstGeom prst="rect">
            <a:avLst/>
          </a:prstGeom>
          <a:solidFill>
            <a:srgbClr val="FFC766"/>
          </a:solidFill>
          <a:ln/>
        </p:spPr>
      </p:sp>
      <p:sp>
        <p:nvSpPr>
          <p:cNvPr id="53" name="Text 51"/>
          <p:cNvSpPr/>
          <p:nvPr/>
        </p:nvSpPr>
        <p:spPr>
          <a:xfrm>
            <a:off x="6675120" y="53035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End-to-End Capability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675120" y="5577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4D8DC"/>
                </a:solidFill>
              </a:rPr>
              <a:t>10 integrated service domains covering cyber, cloud, AI, data, and enterprise IT — one partner for the full mission stack.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F6070"/>
                </a:solidFill>
              </a:rPr>
              <a:t>CybitSolutions — A Division of AFANO Group · SDVOSB · MBE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888"/>
                </a:solidFill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1828800"/>
            <a:ext cx="6400800" cy="6400800"/>
          </a:xfrm>
          <a:prstGeom prst="ellipse">
            <a:avLst/>
          </a:prstGeom>
          <a:solidFill>
            <a:srgbClr val="13C0F5">
              <a:alpha val="6000"/>
            </a:srgbClr>
          </a:solidFill>
          <a:ln/>
        </p:spPr>
      </p:sp>
      <p:pic>
        <p:nvPicPr>
          <p:cNvPr id="5" name="Image 0" descr="C:\Users\adupe\Desktop\CybitSolutions\public\images\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55848" y="1097280"/>
            <a:ext cx="54864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2560320"/>
            <a:ext cx="8531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494"/>
                </a:solidFill>
              </a:rPr>
              <a:t>A Division of AFANO Group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184648" y="3108960"/>
            <a:ext cx="1828800" cy="27432"/>
          </a:xfrm>
          <a:prstGeom prst="rect">
            <a:avLst/>
          </a:prstGeom>
          <a:solidFill>
            <a:srgbClr val="13C0F5"/>
          </a:solidFill>
          <a:ln/>
        </p:spPr>
      </p:sp>
      <p:sp>
        <p:nvSpPr>
          <p:cNvPr id="8" name="Text 5"/>
          <p:cNvSpPr/>
          <p:nvPr/>
        </p:nvSpPr>
        <p:spPr>
          <a:xfrm>
            <a:off x="1371600" y="3383280"/>
            <a:ext cx="9445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Let's Build the Future of Federal IT — Together.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2286000" y="4114800"/>
            <a:ext cx="7616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0A8B0"/>
                </a:solidFill>
              </a:rPr>
              <a:t>Ready to modernize your mission? Contact us to discuss how CybitSolutions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0A8B0"/>
                </a:solidFill>
              </a:rPr>
              <a:t>can deliver mission-grade solutions for your agency.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103120" y="502920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1E2A38"/>
          </a:solidFill>
          <a:ln/>
        </p:spPr>
      </p:sp>
      <p:sp>
        <p:nvSpPr>
          <p:cNvPr id="11" name="Text 8"/>
          <p:cNvSpPr/>
          <p:nvPr/>
        </p:nvSpPr>
        <p:spPr>
          <a:xfrm>
            <a:off x="2103120" y="5074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C0F5"/>
                </a:solidFill>
              </a:rPr>
              <a:t>PHONE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103120" y="5394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+ (771) 233-1379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937760" y="502920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1E2A38"/>
          </a:solidFill>
          <a:ln/>
        </p:spPr>
      </p:sp>
      <p:sp>
        <p:nvSpPr>
          <p:cNvPr id="14" name="Text 11"/>
          <p:cNvSpPr/>
          <p:nvPr/>
        </p:nvSpPr>
        <p:spPr>
          <a:xfrm>
            <a:off x="4937760" y="5074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C0F5"/>
                </a:solidFill>
              </a:rPr>
              <a:t>EMAIL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937760" y="5394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info@cybitsolutions.net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772400" y="502920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1E2A38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0" y="5074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C0F5"/>
                </a:solidFill>
              </a:rPr>
              <a:t>WEBSITE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772400" y="5394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www.cybitsolutions.net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371600" y="6217920"/>
            <a:ext cx="9445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E6C7C"/>
                </a:solidFill>
              </a:rPr>
              <a:t>SDVOSB  ·  MBE  ·  TS/SCI Cleared  ·  CMMC L3  ·  ISO 27001  ·  FedRAMP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CybitSolutions — A Division of AFANO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CybitSolutions Company Profile</dc:title>
  <dc:subject>Company Profile for Government Contract Bidding</dc:subject>
  <dc:creator>CybitSolutions</dc:creator>
  <cp:lastModifiedBy>CybitSolutions</cp:lastModifiedBy>
  <cp:revision>1</cp:revision>
  <dcterms:created xsi:type="dcterms:W3CDTF">2026-03-27T01:44:03Z</dcterms:created>
  <dcterms:modified xsi:type="dcterms:W3CDTF">2026-03-27T01:44:03Z</dcterms:modified>
</cp:coreProperties>
</file>